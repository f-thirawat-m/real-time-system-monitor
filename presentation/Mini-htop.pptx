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49dd74c6a4349" /><Relationship Type="http://schemas.openxmlformats.org/officeDocument/2006/relationships/extended-properties" Target="/docProps/app.xml" Id="R7a77d23f96b64b19" /><Relationship Type="http://schemas.openxmlformats.org/officeDocument/2006/relationships/officeDocument" Target="/ppt/presentation.xml" Id="R26653fc5392d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eeff9a1444b51"/>
  </p:sldMasterIdLst>
  <p:notesMasterIdLst>
    <p:notesMasterId xmlns:r="http://schemas.openxmlformats.org/officeDocument/2006/relationships" r:id="R4873db0ee99a4ad5"/>
  </p:notesMasterIdLst>
  <p:sldIdLst>
    <p:sldId xmlns:r="http://schemas.openxmlformats.org/officeDocument/2006/relationships" id="256" r:id="Rdccf0fdb1cdb4376"/>
    <p:sldId xmlns:r="http://schemas.openxmlformats.org/officeDocument/2006/relationships" id="257" r:id="R7ade15ed890c452b"/>
    <p:sldId xmlns:r="http://schemas.openxmlformats.org/officeDocument/2006/relationships" id="258" r:id="R9f93513f8a3c4b53"/>
    <p:sldId xmlns:r="http://schemas.openxmlformats.org/officeDocument/2006/relationships" id="259" r:id="Ra2f1b91753824d5d"/>
    <p:sldId xmlns:r="http://schemas.openxmlformats.org/officeDocument/2006/relationships" id="260" r:id="Rf2bc4ff4cfc84a5a"/>
    <p:sldId xmlns:r="http://schemas.openxmlformats.org/officeDocument/2006/relationships" id="261" r:id="R0582a018b52b4654"/>
    <p:sldId xmlns:r="http://schemas.openxmlformats.org/officeDocument/2006/relationships" id="262" r:id="R3aea2ed8dae24a45"/>
    <p:sldId xmlns:r="http://schemas.openxmlformats.org/officeDocument/2006/relationships" id="263" r:id="Rdd650c4f944644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bc8d8627a4da6" /><Relationship Type="http://schemas.openxmlformats.org/officeDocument/2006/relationships/slideMaster" Target="/ppt/slideMasters/slideMaster1.xml" Id="Rd5beeff9a1444b51" /><Relationship Type="http://schemas.openxmlformats.org/officeDocument/2006/relationships/notesMaster" Target="/ppt/notesMasters/notesMaster1.xml" Id="R4873db0ee99a4ad5" /><Relationship Type="http://schemas.openxmlformats.org/officeDocument/2006/relationships/presProps" Target="/ppt/presProps.xml" Id="Rccb869b1a4db4cb6" /><Relationship Type="http://schemas.openxmlformats.org/officeDocument/2006/relationships/tableStyles" Target="/ppt/tableStyles.xml" Id="Rfbf255f7abff4eb9" /><Relationship Type="http://schemas.openxmlformats.org/officeDocument/2006/relationships/slide" Target="/ppt/slides/slide1.xml" Id="Rdccf0fdb1cdb4376" /><Relationship Type="http://schemas.openxmlformats.org/officeDocument/2006/relationships/slide" Target="/ppt/slides/slide2.xml" Id="R7ade15ed890c452b" /><Relationship Type="http://schemas.openxmlformats.org/officeDocument/2006/relationships/slide" Target="/ppt/slides/slide3.xml" Id="R9f93513f8a3c4b53" /><Relationship Type="http://schemas.openxmlformats.org/officeDocument/2006/relationships/slide" Target="/ppt/slides/slide4.xml" Id="Ra2f1b91753824d5d" /><Relationship Type="http://schemas.openxmlformats.org/officeDocument/2006/relationships/slide" Target="/ppt/slides/slide5.xml" Id="Rf2bc4ff4cfc84a5a" /><Relationship Type="http://schemas.openxmlformats.org/officeDocument/2006/relationships/slide" Target="/ppt/slides/slide6.xml" Id="R0582a018b52b4654" /><Relationship Type="http://schemas.openxmlformats.org/officeDocument/2006/relationships/slide" Target="/ppt/slides/slide7.xml" Id="R3aea2ed8dae24a45" /><Relationship Type="http://schemas.openxmlformats.org/officeDocument/2006/relationships/slide" Target="/ppt/slides/slide8.xml" Id="Rdd650c4f9446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47ac2eccfe4c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7abf14a5144a2" /><Relationship Type="http://schemas.openxmlformats.org/officeDocument/2006/relationships/notesMaster" Target="/ppt/notesMasters/notesMaster1.xml" Id="R94b5a60e126e4a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421f6d1fe432e" /><Relationship Type="http://schemas.openxmlformats.org/officeDocument/2006/relationships/notesMaster" Target="/ppt/notesMasters/notesMaster1.xml" Id="R7ccdccd6013b4e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e130244997490b" /><Relationship Type="http://schemas.openxmlformats.org/officeDocument/2006/relationships/notesMaster" Target="/ppt/notesMasters/notesMaster1.xml" Id="R783c08c5dffa46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ee9dd2dc274297" /><Relationship Type="http://schemas.openxmlformats.org/officeDocument/2006/relationships/notesMaster" Target="/ppt/notesMasters/notesMaster1.xml" Id="R5fa9d9741b1d4c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caadfd8b994fcd" /><Relationship Type="http://schemas.openxmlformats.org/officeDocument/2006/relationships/notesMaster" Target="/ppt/notesMasters/notesMaster1.xml" Id="Rcf7502b84f274e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3305829a1345a3" /><Relationship Type="http://schemas.openxmlformats.org/officeDocument/2006/relationships/notesMaster" Target="/ppt/notesMasters/notesMaster1.xml" Id="R10ddbb341a6e41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87af3c766b4fce" /><Relationship Type="http://schemas.openxmlformats.org/officeDocument/2006/relationships/notesMaster" Target="/ppt/notesMasters/notesMaster1.xml" Id="Ra9919197f2324d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200c404da449b" /><Relationship Type="http://schemas.openxmlformats.org/officeDocument/2006/relationships/notesMaster" Target="/ppt/notesMasters/notesMaster1.xml" Id="R2fb130162c5e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Linux terminal system monitor. The illustration is conceptual; all technical facts in the presentation come from the C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program after this overview. The submitted implementation is the C executable, not the older Python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sources: /proc/stat, /proc/meminfo and /proc/[pid]/stat. c_src/monitor.c collects snapshots. c_src/main.c renders the terminal and handles keys. statvfs is used for the root filesystem. Source: project C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c_src/monitor.c and c_src/main.c. Explain that /proc itself is Linux-specific. getpwuid is a POSIX library interface, not necessarily a direct kernel syscall.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counters in /proc/stat are cumulative. Subtract consecutive values before calculating a percentage. For each process, compare utime plus stime from /proc/[pid]/stat. See the formulas in docs/REPORT.md and c_src/monitor.c.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only with demo-load. Select a process, confirm, check PID and starttime, then call kill. The identity check narrows but does not eliminate a PID-reuse 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Terminal A: make demo-load &amp;&amp; ./demo-load. Terminal B: ./mini-htop. Search for demo-load and verify PID. Use t, confirm y, then restart demo-load and use uppercase K. Run without sudo and never signal system processes.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code compiled with GCC on Ubuntu WSL and make test passed. The test sends SIGTERM only to its own forked child. The program is Linux-only and the disk gauge shows root filesystem usage.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d9e22d7d546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2ea89760e4428" /><Relationship Type="http://schemas.openxmlformats.org/officeDocument/2006/relationships/slideLayout" Target="/ppt/slideLayouts/slideLayout1.xml" Id="R60cdeadbffd44f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cdeadbffd44f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5214b9b5b4c73" /><Relationship Type="http://schemas.openxmlformats.org/officeDocument/2006/relationships/image" Target="/ppt/media/image.png" Id="R702eed5cf3ab40cc" /><Relationship Type="http://schemas.openxmlformats.org/officeDocument/2006/relationships/notesSlide" Target="/ppt/notesSlides/notesSlide1.xml" Id="R38186768c72c4b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c517b7e3e4b11" /><Relationship Type="http://schemas.openxmlformats.org/officeDocument/2006/relationships/notesSlide" Target="/ppt/notesSlides/notesSlide2.xml" Id="R6eaa820a87be4f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8cdf2e9c14a83" /><Relationship Type="http://schemas.openxmlformats.org/officeDocument/2006/relationships/notesSlide" Target="/ppt/notesSlides/notesSlide3.xml" Id="R602ace2287b2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fd8a3461b45a3" /><Relationship Type="http://schemas.openxmlformats.org/officeDocument/2006/relationships/notesSlide" Target="/ppt/notesSlides/notesSlide4.xml" Id="R8416a896a21442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e7fff24e04404" /><Relationship Type="http://schemas.openxmlformats.org/officeDocument/2006/relationships/notesSlide" Target="/ppt/notesSlides/notesSlide5.xml" Id="Rbbb3964f075545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12f0469084251" /><Relationship Type="http://schemas.openxmlformats.org/officeDocument/2006/relationships/notesSlide" Target="/ppt/notesSlides/notesSlide6.xml" Id="Rf74895514e7a49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67efe596a4c71" /><Relationship Type="http://schemas.openxmlformats.org/officeDocument/2006/relationships/notesSlide" Target="/ppt/notesSlides/notesSlide7.xml" Id="R2051620aa710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b618b799b48df" /><Relationship Type="http://schemas.openxmlformats.org/officeDocument/2006/relationships/notesSlide" Target="/ppt/notesSlides/notesSlide8.xml" Id="Rb00aae72432c4f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eed5cf3ab40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91864E-B666-4B06-862F-D092C365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Mini-htop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38645A-02D3-4DA7-A3AC-6C3DCFFE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8F3F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8F3FA"/>
                </a:solidFill>
                <a:latin typeface="Arial"/>
                <a:ea typeface="Arial"/>
                <a:cs typeface="Arial"/>
              </a:rPr>
              <a:t>Real-time System Monitor</a:t>
            </a:r>
          </a:p>
        </p:txBody>
      </p:sp>
      <p:sp>
        <p:nvSpPr>
          <p:cNvPr id="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BBFC78A0-445D-498E-AC19-3B31BD85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CDA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CDAE9"/>
                </a:solidFill>
                <a:latin typeface="Arial"/>
                <a:ea typeface="Arial"/>
                <a:cs typeface="Arial"/>
              </a:rPr>
              <a:t>C and POSIX APIs on Linux</a:t>
            </a:r>
          </a:p>
        </p:txBody>
      </p:sp>
    </p:spTree>
    <p:extLst>
      <p:ext uri="{BB962C8B-B14F-4D97-AF65-F5344CB8AC3E}">
        <p14:creationId xmlns:p14="http://schemas.microsoft.com/office/powerpoint/2010/main" val="1389573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681774DE-9956-411E-99A4-B43CDCD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C0C8D2F3-88D3-4E14-B1D6-A31C3AC1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cope-one-label">
            <a:extLst xmlns:a="http://schemas.openxmlformats.org/drawingml/2006/main">
              <a:ext uri="{FF2B5EF4-FFF2-40B4-BE49-F238E27FC236}">
                <a16:creationId xmlns:a16="http://schemas.microsoft.com/office/drawing/2014/main" id="{CAE22FE0-7ADC-4EEE-AC7C-83455B6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4" name="scope-one">
            <a:extLst xmlns:a="http://schemas.openxmlformats.org/drawingml/2006/main">
              <a:ext uri="{FF2B5EF4-FFF2-40B4-BE49-F238E27FC236}">
                <a16:creationId xmlns:a16="http://schemas.microsoft.com/office/drawing/2014/main" id="{3C620DE9-BACF-4125-92F2-1C206DF2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CPU by core, RAM, swap and root disk usage</a:t>
            </a:r>
          </a:p>
        </p:txBody>
      </p:sp>
      <p:sp>
        <p:nvSpPr>
          <p:cNvPr id="5" name="scope-two-label">
            <a:extLst xmlns:a="http://schemas.openxmlformats.org/drawingml/2006/main">
              <a:ext uri="{FF2B5EF4-FFF2-40B4-BE49-F238E27FC236}">
                <a16:creationId xmlns:a16="http://schemas.microsoft.com/office/drawing/2014/main" id="{3FB93B9B-570F-49C4-894C-91FD6D3E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6" name="scope-two">
            <a:extLst xmlns:a="http://schemas.openxmlformats.org/drawingml/2006/main">
              <a:ext uri="{FF2B5EF4-FFF2-40B4-BE49-F238E27FC236}">
                <a16:creationId xmlns:a16="http://schemas.microsoft.com/office/drawing/2014/main" id="{CA76E011-6863-445D-9734-F8E8F803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Live process table with search and sorting</a:t>
            </a:r>
          </a:p>
        </p:txBody>
      </p:sp>
      <p:sp>
        <p:nvSpPr>
          <p:cNvPr id="7" name="scope-three-label">
            <a:extLst xmlns:a="http://schemas.openxmlformats.org/drawingml/2006/main">
              <a:ext uri="{FF2B5EF4-FFF2-40B4-BE49-F238E27FC236}">
                <a16:creationId xmlns:a16="http://schemas.microsoft.com/office/drawing/2014/main" id="{EB64F9EC-32DE-4CB0-B577-526C091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8" name="scope-three">
            <a:extLst xmlns:a="http://schemas.openxmlformats.org/drawingml/2006/main">
              <a:ext uri="{FF2B5EF4-FFF2-40B4-BE49-F238E27FC236}">
                <a16:creationId xmlns:a16="http://schemas.microsoft.com/office/drawing/2014/main" id="{27F90860-28A8-485F-A81F-F1CF9FB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Confirm before sending SIGTERM or SIGKILL</a:t>
            </a:r>
          </a:p>
        </p:txBody>
      </p:sp>
    </p:spTree>
    <p:extLst>
      <p:ext uri="{BB962C8B-B14F-4D97-AF65-F5344CB8AC3E}">
        <p14:creationId xmlns:p14="http://schemas.microsoft.com/office/powerpoint/2010/main" val="328804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3">
            <a:extLst xmlns:a="http://schemas.openxmlformats.org/drawingml/2006/main">
              <a:ext uri="{FF2B5EF4-FFF2-40B4-BE49-F238E27FC236}">
                <a16:creationId xmlns:a16="http://schemas.microsoft.com/office/drawing/2014/main" id="{E9114B93-F33D-40F8-BCAD-5F59AC4A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5B981926-EF7D-4E14-B6A4-0C4D20E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arch-source-label">
            <a:extLst xmlns:a="http://schemas.openxmlformats.org/drawingml/2006/main">
              <a:ext uri="{FF2B5EF4-FFF2-40B4-BE49-F238E27FC236}">
                <a16:creationId xmlns:a16="http://schemas.microsoft.com/office/drawing/2014/main" id="{4C7734DE-1C6F-4D84-ACE9-618DE574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57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LINUX DATA SOURCES</a:t>
            </a:r>
          </a:p>
        </p:txBody>
      </p:sp>
      <p:sp>
        <p:nvSpPr>
          <p:cNvPr id="4" name="arch-source">
            <a:extLst xmlns:a="http://schemas.openxmlformats.org/drawingml/2006/main">
              <a:ext uri="{FF2B5EF4-FFF2-40B4-BE49-F238E27FC236}">
                <a16:creationId xmlns:a16="http://schemas.microsoft.com/office/drawing/2014/main" id="{09471BE7-B26C-4E0A-915C-4C8E49F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/proc files and statvfs("/")</a:t>
            </a:r>
          </a:p>
        </p:txBody>
      </p:sp>
      <p:sp>
        <p:nvSpPr>
          <p:cNvPr id="5" name="arch-collect-label">
            <a:extLst xmlns:a="http://schemas.openxmlformats.org/drawingml/2006/main">
              <a:ext uri="{FF2B5EF4-FFF2-40B4-BE49-F238E27FC236}">
                <a16:creationId xmlns:a16="http://schemas.microsoft.com/office/drawing/2014/main" id="{FE7CC9AD-5BF1-403E-9CD6-29F9AAA9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6" name="arch-collect">
            <a:extLst xmlns:a="http://schemas.openxmlformats.org/drawingml/2006/main">
              <a:ext uri="{FF2B5EF4-FFF2-40B4-BE49-F238E27FC236}">
                <a16:creationId xmlns:a16="http://schemas.microsoft.com/office/drawing/2014/main" id="{101B22D7-CCD3-4BBB-BCBD-3F19955A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monitor.c reads, parses and compares snapshots</a:t>
            </a:r>
          </a:p>
        </p:txBody>
      </p:sp>
      <p:sp>
        <p:nvSpPr>
          <p:cNvPr id="7" name="arch-ui-label">
            <a:extLst xmlns:a="http://schemas.openxmlformats.org/drawingml/2006/main">
              <a:ext uri="{FF2B5EF4-FFF2-40B4-BE49-F238E27FC236}">
                <a16:creationId xmlns:a16="http://schemas.microsoft.com/office/drawing/2014/main" id="{DABBB5E2-FE16-4BE5-9A00-987785D1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8" name="arch-ui">
            <a:extLst xmlns:a="http://schemas.openxmlformats.org/drawingml/2006/main">
              <a:ext uri="{FF2B5EF4-FFF2-40B4-BE49-F238E27FC236}">
                <a16:creationId xmlns:a16="http://schemas.microsoft.com/office/drawing/2014/main" id="{4B6AD5B0-DC88-46D1-A8C5-236122D1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main.c displays the table and handles signals</a:t>
            </a:r>
          </a:p>
        </p:txBody>
      </p:sp>
    </p:spTree>
    <p:extLst>
      <p:ext uri="{BB962C8B-B14F-4D97-AF65-F5344CB8AC3E}">
        <p14:creationId xmlns:p14="http://schemas.microsoft.com/office/powerpoint/2010/main" val="1953204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46E85FEA-5771-4521-B4D1-1808210E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POSIX interfaces in the program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3B4F73B7-6BBB-406D-AAB5-A37B209E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io-label">
            <a:extLst xmlns:a="http://schemas.openxmlformats.org/drawingml/2006/main">
              <a:ext uri="{FF2B5EF4-FFF2-40B4-BE49-F238E27FC236}">
                <a16:creationId xmlns:a16="http://schemas.microsoft.com/office/drawing/2014/main" id="{BCD54F24-96AA-4EC9-93A5-55B344BE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File and directory I/O</a:t>
            </a:r>
          </a:p>
        </p:txBody>
      </p:sp>
      <p:sp>
        <p:nvSpPr>
          <p:cNvPr id="4" name="io-value">
            <a:extLst xmlns:a="http://schemas.openxmlformats.org/drawingml/2006/main">
              <a:ext uri="{FF2B5EF4-FFF2-40B4-BE49-F238E27FC236}">
                <a16:creationId xmlns:a16="http://schemas.microsoft.com/office/drawing/2014/main" id="{07414A03-904B-44F1-9134-A4827E44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open, read, close</a:t>
            </a:r>
          </a:p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opendir, readdir, closedir</a:t>
            </a:r>
          </a:p>
        </p:txBody>
      </p:sp>
      <p:sp>
        <p:nvSpPr>
          <p:cNvPr id="5" name="stats-label">
            <a:extLst xmlns:a="http://schemas.openxmlformats.org/drawingml/2006/main">
              <a:ext uri="{FF2B5EF4-FFF2-40B4-BE49-F238E27FC236}">
                <a16:creationId xmlns:a16="http://schemas.microsoft.com/office/drawing/2014/main" id="{2F164E20-8654-45FC-9A4D-EC96DDC8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System information</a:t>
            </a:r>
          </a:p>
        </p:txBody>
      </p:sp>
      <p:sp>
        <p:nvSpPr>
          <p:cNvPr id="6" name="stats-value">
            <a:extLst xmlns:a="http://schemas.openxmlformats.org/drawingml/2006/main">
              <a:ext uri="{FF2B5EF4-FFF2-40B4-BE49-F238E27FC236}">
                <a16:creationId xmlns:a16="http://schemas.microsoft.com/office/drawing/2014/main" id="{B899AC37-BE52-43B3-ADDC-50FF851A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stat, statvfs, sysconf</a:t>
            </a:r>
          </a:p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getpwuid</a:t>
            </a:r>
          </a:p>
        </p:txBody>
      </p:sp>
      <p:sp>
        <p:nvSpPr>
          <p:cNvPr id="7" name="process-label">
            <a:extLst xmlns:a="http://schemas.openxmlformats.org/drawingml/2006/main">
              <a:ext uri="{FF2B5EF4-FFF2-40B4-BE49-F238E27FC236}">
                <a16:creationId xmlns:a16="http://schemas.microsoft.com/office/drawing/2014/main" id="{9A356486-2ECE-4A5C-9006-532FE420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Process control</a:t>
            </a:r>
          </a:p>
        </p:txBody>
      </p:sp>
      <p:sp>
        <p:nvSpPr>
          <p:cNvPr id="8" name="process-value">
            <a:extLst xmlns:a="http://schemas.openxmlformats.org/drawingml/2006/main">
              <a:ext uri="{FF2B5EF4-FFF2-40B4-BE49-F238E27FC236}">
                <a16:creationId xmlns:a16="http://schemas.microsoft.com/office/drawing/2014/main" id="{8B83872F-BC4B-4374-BA4E-7D0CA6BC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kill(pid, SIGTERM)</a:t>
            </a:r>
          </a:p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kill(pid, SIGKILL)</a:t>
            </a:r>
          </a:p>
        </p:txBody>
      </p:sp>
      <p:sp>
        <p:nvSpPr>
          <p:cNvPr id="9" name="terminal-label">
            <a:extLst xmlns:a="http://schemas.openxmlformats.org/drawingml/2006/main">
              <a:ext uri="{FF2B5EF4-FFF2-40B4-BE49-F238E27FC236}">
                <a16:creationId xmlns:a16="http://schemas.microsoft.com/office/drawing/2014/main" id="{9E27B690-CD13-4A9B-8203-6248130F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Terminal input</a:t>
            </a:r>
          </a:p>
        </p:txBody>
      </p:sp>
      <p:sp>
        <p:nvSpPr>
          <p:cNvPr id="10" name="terminal-value">
            <a:extLst xmlns:a="http://schemas.openxmlformats.org/drawingml/2006/main">
              <a:ext uri="{FF2B5EF4-FFF2-40B4-BE49-F238E27FC236}">
                <a16:creationId xmlns:a16="http://schemas.microsoft.com/office/drawing/2014/main" id="{D4DCAC0C-096B-48CF-A832-A17472CF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91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termios and poll</a:t>
            </a:r>
          </a:p>
        </p:txBody>
      </p:sp>
    </p:spTree>
    <p:extLst>
      <p:ext uri="{BB962C8B-B14F-4D97-AF65-F5344CB8AC3E}">
        <p14:creationId xmlns:p14="http://schemas.microsoft.com/office/powerpoint/2010/main" val="714318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5">
            <a:extLst xmlns:a="http://schemas.openxmlformats.org/drawingml/2006/main">
              <a:ext uri="{FF2B5EF4-FFF2-40B4-BE49-F238E27FC236}">
                <a16:creationId xmlns:a16="http://schemas.microsoft.com/office/drawing/2014/main" id="{8E7BFEA1-0984-4DE9-888C-852ACF0D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CPU usage from two samples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D8A6948E-352E-4CAD-8167-2EB88AC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cpu-data">
            <a:extLst xmlns:a="http://schemas.openxmlformats.org/drawingml/2006/main">
              <a:ext uri="{FF2B5EF4-FFF2-40B4-BE49-F238E27FC236}">
                <a16:creationId xmlns:a16="http://schemas.microsoft.com/office/drawing/2014/main" id="{B15F4CAA-95DB-47F0-A8D3-B764267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4" name="cpu-source">
            <a:extLst xmlns:a="http://schemas.openxmlformats.org/drawingml/2006/main">
              <a:ext uri="{FF2B5EF4-FFF2-40B4-BE49-F238E27FC236}">
                <a16:creationId xmlns:a16="http://schemas.microsoft.com/office/drawing/2014/main" id="{4392E5C2-F482-4AD9-9665-9715F4E5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/proc/stat cumulative CPU ticks</a:t>
            </a:r>
          </a:p>
        </p:txBody>
      </p:sp>
      <p:sp>
        <p:nvSpPr>
          <p:cNvPr id="5" name="cpu-formula-label">
            <a:extLst xmlns:a="http://schemas.openxmlformats.org/drawingml/2006/main">
              <a:ext uri="{FF2B5EF4-FFF2-40B4-BE49-F238E27FC236}">
                <a16:creationId xmlns:a16="http://schemas.microsoft.com/office/drawing/2014/main" id="{8B4706B8-DF2A-4985-9FE1-703BF6F0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FORMULA</a:t>
            </a:r>
          </a:p>
        </p:txBody>
      </p:sp>
      <p:sp>
        <p:nvSpPr>
          <p:cNvPr id="6" name="cpu-formula">
            <a:extLst xmlns:a="http://schemas.openxmlformats.org/drawingml/2006/main">
              <a:ext uri="{FF2B5EF4-FFF2-40B4-BE49-F238E27FC236}">
                <a16:creationId xmlns:a16="http://schemas.microsoft.com/office/drawing/2014/main" id="{679BEDF6-6744-44E0-AF0E-43852B9A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100 × (Δtotal − Δidle) / Δtotal</a:t>
            </a:r>
          </a:p>
        </p:txBody>
      </p:sp>
      <p:sp>
        <p:nvSpPr>
          <p:cNvPr id="7" name="cpu-note">
            <a:extLst xmlns:a="http://schemas.openxmlformats.org/drawingml/2006/main">
              <a:ext uri="{FF2B5EF4-FFF2-40B4-BE49-F238E27FC236}">
                <a16:creationId xmlns:a16="http://schemas.microsoft.com/office/drawing/2014/main" id="{2EF8F174-99CB-4F9C-8DE6-BD03F5C9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A process can exceed 100% when it uses more than one core.</a:t>
            </a:r>
          </a:p>
        </p:txBody>
      </p:sp>
    </p:spTree>
    <p:extLst>
      <p:ext uri="{BB962C8B-B14F-4D97-AF65-F5344CB8AC3E}">
        <p14:creationId xmlns:p14="http://schemas.microsoft.com/office/powerpoint/2010/main" val="1857755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6">
            <a:extLst xmlns:a="http://schemas.openxmlformats.org/drawingml/2006/main">
              <a:ext uri="{FF2B5EF4-FFF2-40B4-BE49-F238E27FC236}">
                <a16:creationId xmlns:a16="http://schemas.microsoft.com/office/drawing/2014/main" id="{76DF36C5-8EE7-49BA-91E7-43ACCF88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Process termination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615A6852-C075-49FA-A557-13F4F52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rm-label">
            <a:extLst xmlns:a="http://schemas.openxmlformats.org/drawingml/2006/main">
              <a:ext uri="{FF2B5EF4-FFF2-40B4-BE49-F238E27FC236}">
                <a16:creationId xmlns:a16="http://schemas.microsoft.com/office/drawing/2014/main" id="{C4A87C9D-7E85-4F42-8ED9-C91E61B1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SIGTERM  |  t</a:t>
            </a:r>
          </a:p>
        </p:txBody>
      </p:sp>
      <p:sp>
        <p:nvSpPr>
          <p:cNvPr id="4" name="term-body">
            <a:extLst xmlns:a="http://schemas.openxmlformats.org/drawingml/2006/main">
              <a:ext uri="{FF2B5EF4-FFF2-40B4-BE49-F238E27FC236}">
                <a16:creationId xmlns:a16="http://schemas.microsoft.com/office/drawing/2014/main" id="{86941629-2A90-4FDC-8944-5A9BFFF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The demo process catches it and exits cleanly.</a:t>
            </a:r>
          </a:p>
        </p:txBody>
      </p:sp>
      <p:sp>
        <p:nvSpPr>
          <p:cNvPr id="5" name="kill-label">
            <a:extLst xmlns:a="http://schemas.openxmlformats.org/drawingml/2006/main">
              <a:ext uri="{FF2B5EF4-FFF2-40B4-BE49-F238E27FC236}">
                <a16:creationId xmlns:a16="http://schemas.microsoft.com/office/drawing/2014/main" id="{20A81071-E51E-4B7A-B8FB-4A067BD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SIGKILL  |  K</a:t>
            </a:r>
          </a:p>
        </p:txBody>
      </p:sp>
      <p:sp>
        <p:nvSpPr>
          <p:cNvPr id="6" name="kill-body">
            <a:extLst xmlns:a="http://schemas.openxmlformats.org/drawingml/2006/main">
              <a:ext uri="{FF2B5EF4-FFF2-40B4-BE49-F238E27FC236}">
                <a16:creationId xmlns:a16="http://schemas.microsoft.com/office/drawing/2014/main" id="{33E1BAEF-8231-4370-B669-C4519E33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The target cannot catch or ignore it.</a:t>
            </a:r>
          </a:p>
        </p:txBody>
      </p:sp>
      <p:sp>
        <p:nvSpPr>
          <p:cNvPr id="7" name="safety-body">
            <a:extLst xmlns:a="http://schemas.openxmlformats.org/drawingml/2006/main">
              <a:ext uri="{FF2B5EF4-FFF2-40B4-BE49-F238E27FC236}">
                <a16:creationId xmlns:a16="http://schemas.microsoft.com/office/drawing/2014/main" id="{DCAC1C15-6E18-4456-A3D8-1FC4C71B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Safety: confirmation, self/PID 1 refusal and start-time check</a:t>
            </a:r>
          </a:p>
        </p:txBody>
      </p:sp>
    </p:spTree>
    <p:extLst>
      <p:ext uri="{BB962C8B-B14F-4D97-AF65-F5344CB8AC3E}">
        <p14:creationId xmlns:p14="http://schemas.microsoft.com/office/powerpoint/2010/main" val="1236290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993EAFFE-14AE-4807-A27C-1B0CA4C2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54076596-E469-49AC-A23E-5E7E7950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demo-a-label">
            <a:extLst xmlns:a="http://schemas.openxmlformats.org/drawingml/2006/main">
              <a:ext uri="{FF2B5EF4-FFF2-40B4-BE49-F238E27FC236}">
                <a16:creationId xmlns:a16="http://schemas.microsoft.com/office/drawing/2014/main" id="{EDF9F5B7-CEAF-47C3-B829-E74831D9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859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TERMINAL A</a:t>
            </a:r>
          </a:p>
        </p:txBody>
      </p:sp>
      <p:sp>
        <p:nvSpPr>
          <p:cNvPr id="4" name="demo-a">
            <a:extLst xmlns:a="http://schemas.openxmlformats.org/drawingml/2006/main">
              <a:ext uri="{FF2B5EF4-FFF2-40B4-BE49-F238E27FC236}">
                <a16:creationId xmlns:a16="http://schemas.microsoft.com/office/drawing/2014/main" id="{8B20F344-744A-45C7-8E13-B833D801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9525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make demo-load</a:t>
            </a:r>
          </a:p>
          <a:p xmlns:a="http://schemas.openxmlformats.org/drawingml/2006/main">
            <a:pPr>
              <a:defRPr sz="23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./demo-load</a:t>
            </a:r>
          </a:p>
        </p:txBody>
      </p:sp>
      <p:sp>
        <p:nvSpPr>
          <p:cNvPr id="5" name="demo-b-label">
            <a:extLst xmlns:a="http://schemas.openxmlformats.org/drawingml/2006/main">
              <a:ext uri="{FF2B5EF4-FFF2-40B4-BE49-F238E27FC236}">
                <a16:creationId xmlns:a16="http://schemas.microsoft.com/office/drawing/2014/main" id="{09F81CBF-0C22-4726-9922-02A85C3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TERMINAL B</a:t>
            </a:r>
          </a:p>
        </p:txBody>
      </p:sp>
      <p:sp>
        <p:nvSpPr>
          <p:cNvPr id="6" name="demo-b">
            <a:extLst xmlns:a="http://schemas.openxmlformats.org/drawingml/2006/main">
              <a:ext uri="{FF2B5EF4-FFF2-40B4-BE49-F238E27FC236}">
                <a16:creationId xmlns:a16="http://schemas.microsoft.com/office/drawing/2014/main" id="{8133F680-47BA-43F7-A8AB-31B1503C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./mini-htop</a:t>
            </a:r>
          </a:p>
          <a:p xmlns:a="http://schemas.openxmlformats.org/drawingml/2006/main">
            <a:pPr>
              <a:defRPr sz="23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Search demo-load, then test t and K</a:t>
            </a:r>
          </a:p>
        </p:txBody>
      </p:sp>
    </p:spTree>
    <p:extLst>
      <p:ext uri="{BB962C8B-B14F-4D97-AF65-F5344CB8AC3E}">
        <p14:creationId xmlns:p14="http://schemas.microsoft.com/office/powerpoint/2010/main" val="2079429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8">
            <a:extLst xmlns:a="http://schemas.openxmlformats.org/drawingml/2006/main">
              <a:ext uri="{FF2B5EF4-FFF2-40B4-BE49-F238E27FC236}">
                <a16:creationId xmlns:a16="http://schemas.microsoft.com/office/drawing/2014/main" id="{0338B007-296C-4225-A8C9-5E5575A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213A"/>
                </a:solidFill>
                <a:latin typeface="Arial"/>
                <a:ea typeface="Arial"/>
                <a:cs typeface="Arial"/>
              </a:rPr>
              <a:t>Validation and limitations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18F6D1C-8A73-49FC-81AF-B848A645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verified-label">
            <a:extLst xmlns:a="http://schemas.openxmlformats.org/drawingml/2006/main">
              <a:ext uri="{FF2B5EF4-FFF2-40B4-BE49-F238E27FC236}">
                <a16:creationId xmlns:a16="http://schemas.microsoft.com/office/drawing/2014/main" id="{49F557C7-A85A-46B1-9F9A-238F329C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4" name="verified">
            <a:extLst xmlns:a="http://schemas.openxmlformats.org/drawingml/2006/main">
              <a:ext uri="{FF2B5EF4-FFF2-40B4-BE49-F238E27FC236}">
                <a16:creationId xmlns:a16="http://schemas.microsoft.com/office/drawing/2014/main" id="{3D044546-81E9-43B7-978F-29E9EE8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make test passes on Ubuntu WSL</a:t>
            </a:r>
          </a:p>
          <a:p xmlns:a="http://schemas.openxmlformats.org/drawingml/2006/main">
            <a:pPr>
              <a:defRPr sz="2025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Signal test uses a child process created by the test</a:t>
            </a:r>
          </a:p>
        </p:txBody>
      </p:sp>
      <p:sp>
        <p:nvSpPr>
          <p:cNvPr id="5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7E0BADCB-ABA9-48D4-9F1F-EEC3051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B6D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B6D5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6" name="limits">
            <a:extLst xmlns:a="http://schemas.openxmlformats.org/drawingml/2006/main">
              <a:ext uri="{FF2B5EF4-FFF2-40B4-BE49-F238E27FC236}">
                <a16:creationId xmlns:a16="http://schemas.microsoft.com/office/drawing/2014/main" id="{D7513647-B4D2-4612-B9AE-1923C843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Linux /proc required</a:t>
            </a:r>
          </a:p>
          <a:p xmlns:a="http://schemas.openxmlformats.org/drawingml/2006/main">
            <a:pPr>
              <a:defRPr sz="19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Disk gauge covers only /</a:t>
            </a:r>
          </a:p>
          <a:p xmlns:a="http://schemas.openxmlformats.org/drawingml/2006/main">
            <a:pPr>
              <a:defRPr sz="1950" b="0">
                <a:solidFill>
                  <a:srgbClr val="1221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2213A"/>
                </a:solidFill>
                <a:latin typeface="Arial"/>
                <a:ea typeface="Arial"/>
                <a:cs typeface="Arial"/>
              </a:rPr>
              <a:t>PID identity check still has a narrow race</a:t>
            </a:r>
          </a:p>
        </p:txBody>
      </p:sp>
    </p:spTree>
    <p:extLst>
      <p:ext uri="{BB962C8B-B14F-4D97-AF65-F5344CB8AC3E}">
        <p14:creationId xmlns:p14="http://schemas.microsoft.com/office/powerpoint/2010/main" val="20657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2026-09-21T13:59:21.7900000Z</dcterms:created>
  <dcterms:modified xsi:type="dcterms:W3CDTF">2026-09-21T13:59:21.7900000Z</dcterms:modified>
</coreProperties>
</file>